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e160ac06e4aba" /><Relationship Type="http://schemas.openxmlformats.org/officeDocument/2006/relationships/extended-properties" Target="/docProps/app.xml" Id="Ra5e9097e0db54d0e" /><Relationship Type="http://schemas.openxmlformats.org/officeDocument/2006/relationships/officeDocument" Target="/ppt/presentation.xml" Id="R4dbd62ea06b144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ba48f8a4524539"/>
  </p:sldMasterIdLst>
  <p:notesMasterIdLst>
    <p:notesMasterId xmlns:r="http://schemas.openxmlformats.org/officeDocument/2006/relationships" r:id="Redae36afb0a449fb"/>
  </p:notesMasterIdLst>
  <p:sldIdLst>
    <p:sldId xmlns:r="http://schemas.openxmlformats.org/officeDocument/2006/relationships" id="256" r:id="Ra1b0af69f1304378"/>
    <p:sldId xmlns:r="http://schemas.openxmlformats.org/officeDocument/2006/relationships" id="257" r:id="R13477dfd9d5f4cab"/>
    <p:sldId xmlns:r="http://schemas.openxmlformats.org/officeDocument/2006/relationships" id="258" r:id="Rbc813c60f93f4d14"/>
    <p:sldId xmlns:r="http://schemas.openxmlformats.org/officeDocument/2006/relationships" id="259" r:id="R4346008034254f8d"/>
    <p:sldId xmlns:r="http://schemas.openxmlformats.org/officeDocument/2006/relationships" id="260" r:id="Re70b6aceefe643e0"/>
    <p:sldId xmlns:r="http://schemas.openxmlformats.org/officeDocument/2006/relationships" id="261" r:id="R03e3a210f5174cae"/>
    <p:sldId xmlns:r="http://schemas.openxmlformats.org/officeDocument/2006/relationships" id="262" r:id="Rc4191462ff904859"/>
    <p:sldId xmlns:r="http://schemas.openxmlformats.org/officeDocument/2006/relationships" id="263" r:id="R3bbf537aa77b42da"/>
    <p:sldId xmlns:r="http://schemas.openxmlformats.org/officeDocument/2006/relationships" id="264" r:id="Rafccb801076f47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b25f2dafb4bf6" /><Relationship Type="http://schemas.openxmlformats.org/officeDocument/2006/relationships/slideMaster" Target="/ppt/slideMasters/slideMaster1.xml" Id="Ra7ba48f8a4524539" /><Relationship Type="http://schemas.openxmlformats.org/officeDocument/2006/relationships/notesMaster" Target="/ppt/notesMasters/notesMaster1.xml" Id="Redae36afb0a449fb" /><Relationship Type="http://schemas.openxmlformats.org/officeDocument/2006/relationships/presProps" Target="/ppt/presProps.xml" Id="Red119f6d28a94539" /><Relationship Type="http://schemas.openxmlformats.org/officeDocument/2006/relationships/tableStyles" Target="/ppt/tableStyles.xml" Id="R466c416776be4232" /><Relationship Type="http://schemas.openxmlformats.org/officeDocument/2006/relationships/slide" Target="/ppt/slides/slide1.xml" Id="Ra1b0af69f1304378" /><Relationship Type="http://schemas.openxmlformats.org/officeDocument/2006/relationships/slide" Target="/ppt/slides/slide2.xml" Id="R13477dfd9d5f4cab" /><Relationship Type="http://schemas.openxmlformats.org/officeDocument/2006/relationships/slide" Target="/ppt/slides/slide3.xml" Id="Rbc813c60f93f4d14" /><Relationship Type="http://schemas.openxmlformats.org/officeDocument/2006/relationships/slide" Target="/ppt/slides/slide4.xml" Id="R4346008034254f8d" /><Relationship Type="http://schemas.openxmlformats.org/officeDocument/2006/relationships/slide" Target="/ppt/slides/slide5.xml" Id="Re70b6aceefe643e0" /><Relationship Type="http://schemas.openxmlformats.org/officeDocument/2006/relationships/slide" Target="/ppt/slides/slide6.xml" Id="R03e3a210f5174cae" /><Relationship Type="http://schemas.openxmlformats.org/officeDocument/2006/relationships/slide" Target="/ppt/slides/slide7.xml" Id="Rc4191462ff904859" /><Relationship Type="http://schemas.openxmlformats.org/officeDocument/2006/relationships/slide" Target="/ppt/slides/slide8.xml" Id="R3bbf537aa77b42da" /><Relationship Type="http://schemas.openxmlformats.org/officeDocument/2006/relationships/slide" Target="/ppt/slides/slide9.xml" Id="Rafccb801076f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9749b5903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fe9537e224d71" /><Relationship Type="http://schemas.openxmlformats.org/officeDocument/2006/relationships/notesMaster" Target="/ppt/notesMasters/notesMaster1.xml" Id="R15855a1a9693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7afb6d8acf4d56" /><Relationship Type="http://schemas.openxmlformats.org/officeDocument/2006/relationships/notesMaster" Target="/ppt/notesMasters/notesMaster1.xml" Id="Ra974a8ff0840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8def7cfe564ffa" /><Relationship Type="http://schemas.openxmlformats.org/officeDocument/2006/relationships/notesMaster" Target="/ppt/notesMasters/notesMaster1.xml" Id="R9284e9cbf53a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b9808e979144b2" /><Relationship Type="http://schemas.openxmlformats.org/officeDocument/2006/relationships/notesMaster" Target="/ppt/notesMasters/notesMaster1.xml" Id="R1b340fcdb135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8a3ee09c0347fe" /><Relationship Type="http://schemas.openxmlformats.org/officeDocument/2006/relationships/notesMaster" Target="/ppt/notesMasters/notesMaster1.xml" Id="Rab5e460be6dc4e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a6a35fd5d4469" /><Relationship Type="http://schemas.openxmlformats.org/officeDocument/2006/relationships/notesMaster" Target="/ppt/notesMasters/notesMaster1.xml" Id="Rf457c34a4f0f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d7c1aef764f3a" /><Relationship Type="http://schemas.openxmlformats.org/officeDocument/2006/relationships/notesMaster" Target="/ppt/notesMasters/notesMaster1.xml" Id="R770dc2cc8b7446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98ef85d62f4d27" /><Relationship Type="http://schemas.openxmlformats.org/officeDocument/2006/relationships/notesMaster" Target="/ppt/notesMasters/notesMaster1.xml" Id="R394bc2d0812f46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23862936541d6" /><Relationship Type="http://schemas.openxmlformats.org/officeDocument/2006/relationships/notesMaster" Target="/ppt/notesMasters/notesMaster1.xml" Id="Ra0cfdcd093d2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Capa. Abra com o dilema: manter eficiência comprovada ou criar capacidade de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Apresente os dados que mostram uma empresa operacionalmente robusta, antes de discutir a transformação.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Explique que a IA é especialmente valiosa no agronegócio porque as decisões se repetem e geram dados em escala.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Use esta leitura para mostrar como cada força é afetada pela IA. Não trate IA como um fim tecnológico.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Defenda a classificação Nível 1: a tecnologia foi experimentada, mas não há escala, processo ou governança.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Recomende iniciar pela logística e manter previsão de produtividade como segundo piloto. Evite ampliar o portfólio antes de provar valor.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Mostre que cada risco tem uma resposta de gestão. A empresa não deve esperar risco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Apresente a sequência como portas de decisão: não escalar até que a fase anterior prove seus critérios.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Estudo de Caso - AgroTech (1).pdf (arquivo fornecido pelo usuário).</a:t>
            </a:r>
          </a:p>
          <a:p xmlns:a="http://schemas.openxmlformats.org/drawingml/2006/main">
            <a:r>
              <a:t>- Recomendações e priorização: análise original a partir do enunciado.</a:t>
            </a:r>
          </a:p>
          <a:p xmlns:a="http://schemas.openxmlformats.org/drawingml/2006/main">
            <a:r>
              <a:t>Feche reforçando que a estratégia é seletiva e orientada a valor, não uma aposta tecnológica.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a2c03db8b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e2a99b97b4b32" /><Relationship Type="http://schemas.openxmlformats.org/officeDocument/2006/relationships/slideLayout" Target="/ppt/slideLayouts/slideLayout1.xml" Id="Rc4f44872482f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44872482f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e05b88f2f4993" /><Relationship Type="http://schemas.openxmlformats.org/officeDocument/2006/relationships/notesSlide" Target="/ppt/notesSlides/notesSlide1.xml" Id="R89508234006547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edaeef3884a70" /><Relationship Type="http://schemas.openxmlformats.org/officeDocument/2006/relationships/notesSlide" Target="/ppt/notesSlides/notesSlide2.xml" Id="R719647e3fe44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2c3fa2db48e2" /><Relationship Type="http://schemas.openxmlformats.org/officeDocument/2006/relationships/notesSlide" Target="/ppt/notesSlides/notesSlide3.xml" Id="R31a4d96f8e21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e43746b44e04" /><Relationship Type="http://schemas.openxmlformats.org/officeDocument/2006/relationships/notesSlide" Target="/ppt/notesSlides/notesSlide4.xml" Id="R8bd827528c8d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fe5302c944b06" /><Relationship Type="http://schemas.openxmlformats.org/officeDocument/2006/relationships/notesSlide" Target="/ppt/notesSlides/notesSlide5.xml" Id="R59079c0b4c144c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866c943d04ebb" /><Relationship Type="http://schemas.openxmlformats.org/officeDocument/2006/relationships/notesSlide" Target="/ppt/notesSlides/notesSlide6.xml" Id="R236bc523a28347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20d2d2fa14c8d" /><Relationship Type="http://schemas.openxmlformats.org/officeDocument/2006/relationships/notesSlide" Target="/ppt/notesSlides/notesSlide7.xml" Id="Rdf717386bfc4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b785d4446489f" /><Relationship Type="http://schemas.openxmlformats.org/officeDocument/2006/relationships/notesSlide" Target="/ppt/notesSlides/notesSlide8.xml" Id="R7e34d7ca3dfb4b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b8a585d04bdb" /><Relationship Type="http://schemas.openxmlformats.org/officeDocument/2006/relationships/notesSlide" Target="/ppt/notesSlides/notesSlide9.xml" Id="R51f6c26b459146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8BA99-D753-4535-8DE8-B8984AE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1F3EB"/>
              </a:gs>
              <a:gs pos="100000">
                <a:srgbClr val="C5DED2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A7A7-3894-4015-8B45-58E8A78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7334250" y="838200"/>
            <a:ext cx="4095750" cy="3476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4BAE-FB3C-4817-B603-93F667F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7019925" y="1000125"/>
            <a:ext cx="4724400" cy="391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635F-A3C5-4B27-9CF6-B94B2B8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6705600" y="1162050"/>
            <a:ext cx="5353050" cy="4352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AC1C7-90B5-4164-B359-A9085EE5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6391275" y="1323975"/>
            <a:ext cx="5981700" cy="4791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0D75D-295B-4297-B187-F104A25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6076950" y="1485900"/>
            <a:ext cx="6610350" cy="5229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29E34-CF87-42B0-8697-3942ACAE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5762625" y="1647825"/>
            <a:ext cx="7239000" cy="5667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54BCD-09D8-4C43-97FE-6551314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0000">
            <a:off x="5448300" y="1809750"/>
            <a:ext cx="7867650" cy="6105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E6F50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C0EDF-83BD-4700-BF0F-E15B68C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FIAP MBA TECH · ESTRATÉGIAS SETORIAIS DE IMPLEMENTAÇÃO</a:t>
            </a:r>
          </a:p>
        </p:txBody>
      </p:sp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4427A91-B04C-46A8-BDD3-1157155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52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Colher eficiência.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0E1DC-18D9-40A2-AD39-C9A11674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1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5250" b="1" i="1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Cultivar inteligência.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2B4CF-1E9B-4372-8541-28C60CF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4D625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D625A"/>
                </a:solidFill>
                <a:latin typeface="Aptos"/>
                <a:ea typeface="Aptos"/>
                <a:cs typeface="Aptos"/>
              </a:rPr>
              <a:t>AgroTech Vale Verde: entre a excelência operacional e uma transformação orientada por Inteligência Artificial.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09A19-4B2A-4814-A14B-962163EB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4E645B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4E645B"/>
                </a:solidFill>
                <a:latin typeface="Aptos Mono"/>
                <a:ea typeface="Aptos Mono"/>
                <a:cs typeface="Aptos Mono"/>
              </a:rPr>
              <a:t>ANÁLISE ESTRATÉGICA · ESTUDO DE CASO ·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0B9E7-0787-4B15-8DA1-E635280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670472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D2C60-3FB8-4298-8E75-DDC239D1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9BCFA9B-0B8B-4024-B03B-9F12EAB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O CONTEXTO DA EMPRESA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62AF54B-530E-4644-94BA-2367DB3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02 / 09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8C9569-6E88-4524-9614-13DB3DC9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Uma operação sólida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em um mercado que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mudou de ritmo.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21105-9240-4E3B-868C-DBB16B50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09191-144C-4FFD-B888-A26C78E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VALE VERDE EM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434FF-5822-4405-A9B8-B946771E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Player relevante de soja e milho no Centro-Oeste.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FE658-70A9-40CF-984B-1E13305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148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85 mil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0F456-7BDE-4094-BAA9-3078858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8637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hectares cultivados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9F7E5-BE4F-4522-B882-6640635C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482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2950">
            <a:solidFill>
              <a:srgbClr val="CBD4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12DC7-71A2-4A68-8CCE-F27E3A3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148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R$ 480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416EE-A0ED-4DAD-B93C-340FAF61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28637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receita anual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F30C1-6465-4CDB-8309-4E1871A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2950">
            <a:solidFill>
              <a:srgbClr val="CB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9BDAF-045C-4B7B-83B1-082FAAE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148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70415-656C-4137-AE3B-DFDE5FD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8637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EBITDA médio</a:t>
            </a:r>
          </a:p>
        </p:txBody>
      </p:sp>
    </p:spTree>
    <p:extLst>
      <p:ext uri="{BB962C8B-B14F-4D97-AF65-F5344CB8AC3E}">
        <p14:creationId xmlns:p14="http://schemas.microsoft.com/office/powerpoint/2010/main" val="1079043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CF743-AF00-4FFD-9F8A-2E36C4D2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7FAE329-6E98-4193-8CD1-0D5C381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QUESTÃO 1 · SETOR E COMPETIÇÃO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537E9A8-DFFB-4B70-A189-B0F841F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03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456AC-9026-4085-8BC0-5E03E249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MATURIDADE DIGITAL DO AGRONEGÓCIO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FBDA2-4247-4918-9644-C8ECE0C4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8100" b="1" i="0">
                <a:solidFill>
                  <a:srgbClr val="E96E4C"/>
                </a:solidFill>
                <a:latin typeface="Georgia"/>
                <a:ea typeface="Georgia"/>
                <a:cs typeface="Georgia"/>
              </a:defRPr>
            </a:pPr>
            <a:r>
              <a:rPr sz="8100" b="1" i="0">
                <a:solidFill>
                  <a:srgbClr val="E96E4C"/>
                </a:solidFill>
                <a:latin typeface="Georgia"/>
                <a:ea typeface="Georgia"/>
                <a:cs typeface="Georgia"/>
              </a:rPr>
              <a:t>3,1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00812-C9D8-418E-882F-D89F21B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em uma escala de 1 a 6.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 média brasileira é 3,7.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E7F1B79-06B7-4A1C-8846-B47F1C8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95425"/>
            <a:ext cx="5429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4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A baixa maturidade é uma fragilidade - e uma janela de vantagem para quem aprende primeiro.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28775-477E-4BCA-941A-76C1E22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24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A8257-60DE-4DA0-A8A8-9CE01F5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956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2272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22722"/>
                </a:solidFill>
                <a:latin typeface="Aptos"/>
                <a:ea typeface="Aptos"/>
                <a:cs typeface="Aptos"/>
              </a:rPr>
              <a:t>Clima, solo, produção e logística oferecem alto potencial preditivo.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B8339-A92C-417F-BF03-092385D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41741-AF8E-4891-8513-0E58AFE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910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2CB44-3B6C-4CC0-B5F9-8BDDC20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6242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2272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22722"/>
                </a:solidFill>
                <a:latin typeface="Aptos"/>
                <a:ea typeface="Aptos"/>
                <a:cs typeface="Aptos"/>
              </a:rPr>
              <a:t>Conectividade, integração e governança ainda limitam a captura de valor.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C3860-D6E2-4E6F-A614-7D1970F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48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282C5-63D0-4E8D-8F1B-BC8549D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57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15D5F-D663-4548-90C3-99282DF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291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2272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22722"/>
                </a:solidFill>
                <a:latin typeface="Aptos"/>
                <a:ea typeface="Aptos"/>
                <a:cs typeface="Aptos"/>
              </a:rPr>
              <a:t>Rastreabilidade ESG torna capacidade analítica um requisito de mercado.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E9022-3586-4531-81BC-452E4281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149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363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121E3-51F5-4B03-857A-84859F62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88B7C0F-90ED-4DEA-8EEC-F24951F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QUESTÃO 1 · 5 FORÇAS DE PORTER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1BA06D5-CFDA-4D3F-932F-5D888F6B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04 / 09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8A03E7-A7D0-44D6-ACE0-BA88CACF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IA redesenha as forças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que definem a competição.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95F5A-575D-4E8E-AACD-5EEED7F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00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72D2C-E917-4032-9602-CCA57679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DF49C-B87E-4142-BAB6-5BDBB56F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Rivalidade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A7B98-FBD9-4536-8C8C-3373474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Algoritmos reduzem custo por hectare e aceleram a resposta.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70AE8-D863-4924-B82B-418FC306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571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60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COMPETIÇÃO AUMENTA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44EB-B8F6-442A-BB69-CDA866A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200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57E5F-0570-40B2-9E66-28FDDC12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03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5E5EC-A0D7-4E52-9B33-317C5A3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86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Entrantes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50E9E-BDC5-4BBE-AFED-AAB788B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0050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Dados proprietários tornam-se uma barreira difícil de copiar.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7367E-F232-4681-9810-9A5BCC4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43500"/>
            <a:ext cx="1571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BARREIRA AUMENTA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4F89F-E42C-4E25-9AD7-7BA1350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200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0DA28-44A4-4DEF-8B24-FDB530B1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C3157-1047-4E08-8F83-AD370034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86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Fornecedores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5ECFB-976A-403D-B03A-759C294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0050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Previsão e otimização fortalecem negociação de insumos e fretes.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B1577-B6CC-4972-85FA-9CE54EE3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571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PODER REDUZ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DCD3F-58DB-4DDA-9DF4-E196D3E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00350"/>
            <a:ext cx="200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F9613-1AF8-436A-92CA-3F55286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03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5F432-2414-4130-8817-2220F22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86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Compradores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FC85D-F5A4-4915-B646-2D62E11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0050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Rastreabilidade e ESG aumentam a exigência de mercados externos.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10B99-B776-49C4-A82D-0260D3F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143500"/>
            <a:ext cx="1571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60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PRESSÃO AUMENTA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6B562-8ABE-4AF6-8E88-99653B96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200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21DBA-F24A-4846-8FEA-F55E11D6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E96E4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CC652B-40E3-49F3-899D-BB93D69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86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Substitutos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6CF63-B919-4665-8E6D-725690F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 IA diferencia o produtor previsível e confiável.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EA05D-341C-449F-8CF6-C7CB4F2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43500"/>
            <a:ext cx="1571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0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EFEITO INDIRETO</a:t>
            </a:r>
          </a:p>
        </p:txBody>
      </p:sp>
    </p:spTree>
    <p:extLst>
      <p:ext uri="{BB962C8B-B14F-4D97-AF65-F5344CB8AC3E}">
        <p14:creationId xmlns:p14="http://schemas.microsoft.com/office/powerpoint/2010/main" val="329722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5BEE0-5BDA-437D-BCAE-B6CC3B6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73981F1-0105-48E0-93BE-5B28993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QUESTÃO 2 · DIAGNÓSTICO ORGANIZACIONAL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C12F741-1EE8-43A9-8265-4C274D09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05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35C78-2066-41FF-A596-1599EF8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4766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368D3-35E0-4314-9CBD-4AEEDB57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MATURIDADE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5951C-D45B-46A4-8820-F716ABF2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Nível 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Exploração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3894-4CEC-4A15-BA87-316519F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C3D4C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3D4CD"/>
                </a:solidFill>
                <a:latin typeface="Aptos"/>
                <a:ea typeface="Aptos"/>
                <a:cs typeface="Aptos"/>
              </a:rPr>
              <a:t>Pilotos existem, mas não foram incorporados à rotina produtiva nem ligados ao resultado financeiro.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B43B5D-92F5-4654-B143-8AE37BE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O problema não é o modelo. É o sistema.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79BA7-DBEB-417D-A08A-D2ECC3C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D418A-B35B-40C3-ABC5-87341CE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Dados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DF3C3-91DD-48F6-8A74-D0AB3C42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33775"/>
            <a:ext cx="2428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Coleta parcial no campo e baixa integração entre ERP, clima, produção e logística.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C5C6E-FF22-49DE-8851-CDA9BE1B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38FA1-70A2-4DAC-B690-A1FB1AE7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52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Governança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0E8E0-6EB2-48E3-B758-309AB9E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33775"/>
            <a:ext cx="2428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Sem padrão de qualidade, responsável definido ou rastreabilidade consistente.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A51C7-17BA-418D-9D91-7063962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7F55D-CB67-40A0-9295-3F45A62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Cultura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EE99E-32FE-4B29-8103-9B0DBD9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14900"/>
            <a:ext cx="2428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Decisão baseada na experiência; baixa prática de experimentação controlada.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42506-95A5-4272-BB4C-F2CF4537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815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62620-DD04-4A90-ACEB-8D20DD39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Liderança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0B97D-8500-41DD-9D10-B709673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14900"/>
            <a:ext cx="2428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Perfil conservador protege a operação, mas reduz apetite a testes sem retorno visível.</a:t>
            </a:r>
          </a:p>
        </p:txBody>
      </p:sp>
    </p:spTree>
    <p:extLst>
      <p:ext uri="{BB962C8B-B14F-4D97-AF65-F5344CB8AC3E}">
        <p14:creationId xmlns:p14="http://schemas.microsoft.com/office/powerpoint/2010/main" val="506172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1DA46-D70F-4018-A808-C5923154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8CEE478-C4A4-4E8B-B1AE-2E1899B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QUESTÃO 3 · PRIORIZAÇÃO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E17728E-8BE6-46F7-87BA-498A1B1C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06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BE4FC-970E-4DF9-9DDA-DC5BC5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COMEÇAR ONDE O VALOR É VISÍVEL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0084BD-98C1-4B2D-A52D-6BA139F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676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37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A prioridade combina impacto financeiro, dados disponíveis e uma decisão operacional concreta.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A2C0-DEC6-4E47-A513-64C1DFDC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 logística representa 22% do custo operacional: é o melhor ponto de partida para provar valor rapidamente.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92E90-6E3E-4C3C-AD8C-863330B3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144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665C9-C36C-485A-B6B5-3A983D8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3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08A58-6E64-45B4-8533-CA4E864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Otimização logística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F2287-5185-46EC-AAC5-4040726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Rotas, janelas e alocação de transporte.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13EED-3F11-46FC-8D79-9F168FB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81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IMPACTO ALTO · COMPLEXIDADE BAIXA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2638A-BB3F-480D-9502-B9721A2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717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56781-934F-4CBA-8912-E2ADB06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9562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F9AF8-D1A4-4563-AD79-8113740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765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Previsão de produtividade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099F2-91B9-4321-A229-D852C468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Risco climático e produtividade por talhão.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040E5-1100-486B-8BF8-F1F9470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38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IMPACTO ALTO · COMPLEXIDADE MÉDIA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D251B-9D6D-4303-9A5D-CA06688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3537F-1905-4CBB-BFAC-109DC629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529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E96E4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A3F4A-8B6B-4B5C-92B8-E3519DE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Aplicação de precisão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50ED5-84A5-48B2-9D3A-98FDA25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Avançar após consolidar dados e processo.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74212-B2A9-4F3A-A673-B5AFD47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958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675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IMPACTO ALTO · COMPLEXIDADE ALTA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9DB4B-42FA-4327-AC3C-8F2F501D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769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604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8A75F-FA65-4EB8-92C4-5CE5D9C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887D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DF5ABCF-22C4-4D8C-9A93-A2E53A77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QUESTÃO 3 · RISCOS QUE DEVEM SER GERIDOS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394016C-D329-4E2B-96C1-9FC8730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B7C8C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B7C8C0"/>
                </a:solidFill>
                <a:latin typeface="Aptos Mono"/>
                <a:ea typeface="Aptos Mono"/>
                <a:cs typeface="Aptos Mono"/>
              </a:rPr>
              <a:t>07 / 09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05E01B-C334-4382-B777-9F06D698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28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2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Escalar sem controle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2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reproduz o problema.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D047A-B951-45BD-A15A-A3F44DB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95425"/>
            <a:ext cx="34671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2D2C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2D2CB"/>
                </a:solidFill>
                <a:latin typeface="Aptos"/>
                <a:ea typeface="Aptos"/>
                <a:cs typeface="Aptos"/>
              </a:rPr>
              <a:t>O risco não é testar IA. É transformar uma prova técnica em decisão operacional sem qualidade, donos e critérios.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AC768-2D2D-48CA-A22E-B5977DE5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8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A7AEE-4818-403A-8068-C748282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01 / 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88229-55EE-4B4D-B659-57787BEC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Baixa qualidade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F0EFC-E281-4194-846A-7A01DCA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 i="0">
                <a:solidFill>
                  <a:srgbClr val="AFC5B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FC5BB"/>
                </a:solidFill>
                <a:latin typeface="Aptos"/>
                <a:ea typeface="Aptos"/>
                <a:cs typeface="Aptos"/>
              </a:rPr>
              <a:t>Resposta: catálogo + padrão + dono.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C699B-6126-49D1-9B8C-F4FA426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8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4A494-B484-43E1-ABD8-E584CF69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02 / PROCESSO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FDED7-5F87-4C62-8384-DE138ECC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434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“Pilot Purgatory”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BB761-3C06-4348-B0F0-6DE3147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720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 i="0">
                <a:solidFill>
                  <a:srgbClr val="AFC5B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FC5BB"/>
                </a:solidFill>
                <a:latin typeface="Aptos"/>
                <a:ea typeface="Aptos"/>
                <a:cs typeface="Aptos"/>
              </a:rPr>
              <a:t>Resposta: KPI + responsável + rotina.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08A9C-BA84-49AC-8DAA-4C04D11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8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A4D56-257E-4402-9669-F8C50488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03 / TECNOLOGIA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1C1A8-F120-497B-B52F-3C19070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Dependência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85B49-0418-4F22-AE7E-D661350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720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 i="0">
                <a:solidFill>
                  <a:srgbClr val="AFC5B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FC5BB"/>
                </a:solidFill>
                <a:latin typeface="Aptos"/>
                <a:ea typeface="Aptos"/>
                <a:cs typeface="Aptos"/>
              </a:rPr>
              <a:t>Resposta: arquitetura e dados sob controle.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7A922-2009-410D-A87F-81D2AF3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8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685AD-1642-414C-9C15-E7D3171F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C9E75C"/>
                </a:solidFill>
                <a:latin typeface="Aptos Mono"/>
                <a:ea typeface="Aptos Mono"/>
                <a:cs typeface="Aptos Mono"/>
              </a:rPr>
              <a:t>04 / DECISÃO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F36DB-4378-46DD-AC33-0F0BEEB1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434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5F8F1"/>
                </a:solidFill>
                <a:latin typeface="Georgia"/>
                <a:ea typeface="Georgia"/>
                <a:cs typeface="Georgia"/>
              </a:rPr>
              <a:t>Viés e exceção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3C114-61D8-477F-8619-5A99C0C3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720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 i="0">
                <a:solidFill>
                  <a:srgbClr val="AFC5B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FC5BB"/>
                </a:solidFill>
                <a:latin typeface="Aptos"/>
                <a:ea typeface="Aptos"/>
                <a:cs typeface="Aptos"/>
              </a:rPr>
              <a:t>Resposta: humano no circuito.</a:t>
            </a:r>
          </a:p>
        </p:txBody>
      </p:sp>
    </p:spTree>
    <p:extLst>
      <p:ext uri="{BB962C8B-B14F-4D97-AF65-F5344CB8AC3E}">
        <p14:creationId xmlns:p14="http://schemas.microsoft.com/office/powerpoint/2010/main" val="1015138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FCD6F-CB4C-497B-9906-AD8225F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C109847-CF68-475E-B5C0-466A41D3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QUESTÃO 4 · ROADMAP DE IMPLEMENTAÇÃO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F20772E-E0CC-47BE-955B-F97C23B1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60706A"/>
                </a:solidFill>
                <a:latin typeface="Aptos Mono"/>
                <a:ea typeface="Aptos Mono"/>
                <a:cs typeface="Aptos Mono"/>
              </a:rPr>
              <a:t>08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67BF-C68F-4AB6-A70A-A056F10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ESTRATÉGIA RECOMENDADA · EXPANSÃO GRADUAL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9D88E5-0B0C-44A0-AC72-8B2533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77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Diagnosticar. Priorizar.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Pilotar. Escalar.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591AA-8C93-442A-BBBE-6D0817D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AAC1A-8ED2-4B94-AAE2-A66F4A62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0 - 90 DIAS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DD6CE-77CD-4873-A23F-574D9EA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Diagnosticar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2D2EE-1C1C-4F12-9DD0-940262D5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219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Inventário e qualidade dos dados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Donos e regras de uso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Baseline de custo e perda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10FF1-1395-4E88-88EB-D31C9D58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6AAAE-E16E-48A7-A6C4-662CF1CB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3 - 6 MESES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17BD-EAD1-451C-9A16-51C4B92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Priorizar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91EAC-3F43-4816-8606-B8B4F10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219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Business case de logística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Previsão por talhão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KPIs aprovados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7A7E2-71C2-43C3-82CA-F9CE99C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BDEEC-C471-4C3D-B254-F7414E8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6 - 12 MESES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621BC-6F4E-4E55-A087-8D41204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Pilotar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5E1C4-9C25-4893-89B0-74CEB846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219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Humano no circuito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Grupo de comparação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Acurácia e ganho financeiro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385F2-3FFB-44A3-B653-463B51B6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BB29A-7C8A-47D7-A68E-33416A56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E6F50"/>
                </a:solidFill>
                <a:latin typeface="Aptos Mono"/>
                <a:ea typeface="Aptos Mono"/>
                <a:cs typeface="Aptos Mono"/>
              </a:rPr>
              <a:t>12+ MESES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91FD9-AAD0-483B-A221-F12D563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Escalar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466A6-2CBC-428D-B2F9-603258F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219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Integração campo-ERP-logística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Componentes reutilizáveis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975" b="0" i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0706A"/>
                </a:solidFill>
                <a:latin typeface="Aptos"/>
                <a:ea typeface="Aptos"/>
                <a:cs typeface="Aptos"/>
              </a:rPr>
              <a:t>Capacitação contínua</a:t>
            </a:r>
          </a:p>
        </p:txBody>
      </p:sp>
    </p:spTree>
    <p:extLst>
      <p:ext uri="{BB962C8B-B14F-4D97-AF65-F5344CB8AC3E}">
        <p14:creationId xmlns:p14="http://schemas.microsoft.com/office/powerpoint/2010/main" val="283002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9E7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C8EE0-A4D0-4085-878C-2727F7B5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9D4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FFC94-45AD-45A2-A5E7-12261313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 i="0">
                <a:solidFill>
                  <a:srgbClr val="28583F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28583F"/>
                </a:solidFill>
                <a:latin typeface="Aptos Mono"/>
                <a:ea typeface="Aptos Mono"/>
                <a:cs typeface="Aptos Mono"/>
              </a:rPr>
              <a:t>CONCLUSÃO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1D0A9A-45C3-4D40-AAFC-A42B2F5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122722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122722"/>
                </a:solidFill>
                <a:latin typeface="Georgia"/>
                <a:ea typeface="Georgia"/>
                <a:cs typeface="Georgia"/>
              </a:rPr>
              <a:t>A Vale Verde não precisa apostar tudo na 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749A3-D14B-404B-9B16-6D0785CF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1">
                <a:solidFill>
                  <a:srgbClr val="2E6F50"/>
                </a:solidFill>
                <a:latin typeface="Georgia"/>
                <a:ea typeface="Georgia"/>
                <a:cs typeface="Georgia"/>
              </a:defRPr>
            </a:pPr>
            <a:r>
              <a:rPr sz="4350" b="1" i="1">
                <a:solidFill>
                  <a:srgbClr val="2E6F50"/>
                </a:solidFill>
                <a:latin typeface="Georgia"/>
                <a:ea typeface="Georgia"/>
                <a:cs typeface="Georgia"/>
              </a:rPr>
              <a:t>Precisa escalar o que prova valor.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3D306-351D-4A6A-A7CE-7F53483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9D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735FF-FA3D-44AE-B87A-173E5397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2594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2594F"/>
                </a:solidFill>
                <a:latin typeface="Aptos"/>
                <a:ea typeface="Aptos"/>
                <a:cs typeface="Aptos"/>
              </a:rPr>
              <a:t>Uma ambição moderada, governada por valor e integrada à operação transforma o perfil conservador da liderança em disciplina de execução.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D47BD-82BA-4D45-870E-97BA9F01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355D48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355D48"/>
                </a:solidFill>
                <a:latin typeface="Aptos Mono"/>
                <a:ea typeface="Aptos Mono"/>
                <a:cs typeface="Aptos Mono"/>
              </a:rPr>
              <a:t>AGROTECH VALE VERDE · IA COMO CAPACIDADE ESTRATÉGICA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DFE4C-D68B-4AA1-9113-2D19FA87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865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 i="0">
                <a:solidFill>
                  <a:srgbClr val="315E45"/>
                </a:solidFill>
                <a:latin typeface="Aptos Mono"/>
                <a:ea typeface="Aptos Mono"/>
                <a:cs typeface="Aptos Mono"/>
              </a:defRPr>
            </a:pPr>
            <a:r>
              <a:rPr sz="750" b="1" i="0">
                <a:solidFill>
                  <a:srgbClr val="315E45"/>
                </a:solidFill>
                <a:latin typeface="Aptos Mono"/>
                <a:ea typeface="Aptos Mono"/>
                <a:cs typeface="Aptos Mono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273289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2026-09-02T23:05:59.8150000Z</dcterms:created>
  <dcterms:modified xsi:type="dcterms:W3CDTF">2026-09-02T23:05:59.8150000Z</dcterms:modified>
</coreProperties>
</file>