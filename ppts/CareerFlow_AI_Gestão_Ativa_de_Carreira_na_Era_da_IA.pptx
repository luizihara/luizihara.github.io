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65674" y="1285875"/>
            <a:ext cx="1212652" cy="250031"/>
          </a:xfrm>
          <a:prstGeom prst="roundRect">
            <a:avLst/>
          </a:prstGeom>
          <a:solidFill>
            <a:srgbClr val="38BDF8">
              <a:alpha val="10000"/>
            </a:srgbClr>
          </a:solidFill>
          <a:ln w="9144">
            <a:solidFill>
              <a:srgbClr val="38BDF8">
                <a:alpha val="3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965674" y="1285875"/>
            <a:ext cx="1212652" cy="250031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FIAP TCC — 2026</a:t>
            </a:r>
            <a:endParaRPr lang="en-US" sz="683" dirty="0"/>
          </a:p>
        </p:txBody>
      </p:sp>
      <p:sp>
        <p:nvSpPr>
          <p:cNvPr id="5" name="Text 2"/>
          <p:cNvSpPr/>
          <p:nvPr/>
        </p:nvSpPr>
        <p:spPr>
          <a:xfrm>
            <a:off x="2326184" y="1700213"/>
            <a:ext cx="4491633" cy="6215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900"/>
              </a:lnSpc>
              <a:buNone/>
            </a:pPr>
            <a:r>
              <a:rPr lang="en-US" sz="3731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CareerFlow AI</a:t>
            </a:r>
            <a:endParaRPr lang="en-US" sz="3731" dirty="0"/>
          </a:p>
        </p:txBody>
      </p:sp>
      <p:sp>
        <p:nvSpPr>
          <p:cNvPr id="6" name="Text 3"/>
          <p:cNvSpPr/>
          <p:nvPr/>
        </p:nvSpPr>
        <p:spPr>
          <a:xfrm>
            <a:off x="2326184" y="2436019"/>
            <a:ext cx="449163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86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MVP de Plataforma de Gestão Ativa de Carreira</a:t>
            </a:r>
            <a:endParaRPr lang="en-US" sz="1486" dirty="0"/>
          </a:p>
        </p:txBody>
      </p:sp>
      <p:sp>
        <p:nvSpPr>
          <p:cNvPr id="7" name="Shape 4"/>
          <p:cNvSpPr/>
          <p:nvPr/>
        </p:nvSpPr>
        <p:spPr>
          <a:xfrm>
            <a:off x="2326184" y="3107531"/>
            <a:ext cx="4491633" cy="742950"/>
          </a:xfrm>
          <a:prstGeom prst="rect">
            <a:avLst/>
          </a:prstGeom>
          <a:solidFill>
            <a:srgbClr val="1E293B">
              <a:alpha val="50000"/>
            </a:srgbClr>
          </a:solidFill>
          <a:ln w="9144">
            <a:solidFill>
              <a:srgbClr val="F8FAFC">
                <a:alpha val="1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554784" y="3343275"/>
            <a:ext cx="539353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RM368484</a:t>
            </a:r>
            <a:endParaRPr lang="en-US" sz="621" dirty="0"/>
          </a:p>
        </p:txBody>
      </p:sp>
      <p:sp>
        <p:nvSpPr>
          <p:cNvPr id="9" name="Text 6"/>
          <p:cNvSpPr/>
          <p:nvPr/>
        </p:nvSpPr>
        <p:spPr>
          <a:xfrm>
            <a:off x="2554784" y="3477220"/>
            <a:ext cx="53935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Luiz Ihara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3379887" y="3343275"/>
            <a:ext cx="776883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RM368500</a:t>
            </a:r>
            <a:endParaRPr lang="en-US" sz="621" dirty="0"/>
          </a:p>
        </p:txBody>
      </p:sp>
      <p:sp>
        <p:nvSpPr>
          <p:cNvPr id="11" name="Text 8"/>
          <p:cNvSpPr/>
          <p:nvPr/>
        </p:nvSpPr>
        <p:spPr>
          <a:xfrm>
            <a:off x="3379887" y="3477220"/>
            <a:ext cx="77688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Filipe Fragoso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4442520" y="3343275"/>
            <a:ext cx="867966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RM366740</a:t>
            </a:r>
            <a:endParaRPr lang="en-US" sz="621" dirty="0"/>
          </a:p>
        </p:txBody>
      </p:sp>
      <p:sp>
        <p:nvSpPr>
          <p:cNvPr id="13" name="Text 10"/>
          <p:cNvSpPr/>
          <p:nvPr/>
        </p:nvSpPr>
        <p:spPr>
          <a:xfrm>
            <a:off x="4442520" y="3477220"/>
            <a:ext cx="867966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Daniel Caminha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5596235" y="3343275"/>
            <a:ext cx="778669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RM368543</a:t>
            </a:r>
            <a:endParaRPr lang="en-US" sz="621" dirty="0"/>
          </a:p>
        </p:txBody>
      </p:sp>
      <p:sp>
        <p:nvSpPr>
          <p:cNvPr id="15" name="Text 12"/>
          <p:cNvSpPr/>
          <p:nvPr/>
        </p:nvSpPr>
        <p:spPr>
          <a:xfrm>
            <a:off x="5596235" y="3477220"/>
            <a:ext cx="77866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Pedro Martins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7725966" y="4736306"/>
            <a:ext cx="113228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Status: Validação / MVP</a:t>
            </a:r>
            <a:endParaRPr lang="en-US" sz="72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2" kern="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01. CONTEXTO DO PROBLEMA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776883"/>
            <a:ext cx="857250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Obsolescência Silenciosa</a:t>
            </a:r>
            <a:endParaRPr lang="en-US" sz="2436" dirty="0"/>
          </a:p>
        </p:txBody>
      </p:sp>
      <p:sp>
        <p:nvSpPr>
          <p:cNvPr id="5" name="Shape 2"/>
          <p:cNvSpPr/>
          <p:nvPr/>
        </p:nvSpPr>
        <p:spPr>
          <a:xfrm>
            <a:off x="571500" y="1476970"/>
            <a:ext cx="4130399" cy="1428750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476970"/>
            <a:ext cx="4130399" cy="28575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4"/>
          <p:cNvSpPr/>
          <p:nvPr/>
        </p:nvSpPr>
        <p:spPr>
          <a:xfrm>
            <a:off x="800100" y="1705570"/>
            <a:ext cx="3673199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setor de Tecnologia vive um paradoxo: a </a:t>
            </a:r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 automatiza tarefas operacionais, exigindo </a:t>
            </a:r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 profissionais desenvolvam </a:t>
            </a:r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 estratégicas</a:t>
            </a:r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rapidamente.</a:t>
            </a:r>
            <a:endParaRPr lang="en-US" sz="1269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334345"/>
            <a:ext cx="4129088" cy="178593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30524" y="1476970"/>
            <a:ext cx="3441976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~5,5 Milhões</a:t>
            </a:r>
            <a:endParaRPr lang="en-US" sz="2016" dirty="0"/>
          </a:p>
        </p:txBody>
      </p:sp>
      <p:sp>
        <p:nvSpPr>
          <p:cNvPr id="10" name="Text 6"/>
          <p:cNvSpPr/>
          <p:nvPr/>
        </p:nvSpPr>
        <p:spPr>
          <a:xfrm>
            <a:off x="5130524" y="1880592"/>
            <a:ext cx="3441976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Empregos de alta intensidade afetados pela automação da IA.</a:t>
            </a:r>
            <a:endParaRPr lang="en-US" sz="942" dirty="0"/>
          </a:p>
        </p:txBody>
      </p:sp>
      <p:sp>
        <p:nvSpPr>
          <p:cNvPr id="11" name="Text 7"/>
          <p:cNvSpPr/>
          <p:nvPr/>
        </p:nvSpPr>
        <p:spPr>
          <a:xfrm>
            <a:off x="5130524" y="2469226"/>
            <a:ext cx="3441976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Paradoxo Sênior</a:t>
            </a:r>
            <a:endParaRPr lang="en-US" sz="2016" dirty="0"/>
          </a:p>
        </p:txBody>
      </p:sp>
      <p:sp>
        <p:nvSpPr>
          <p:cNvPr id="12" name="Text 8"/>
          <p:cNvSpPr/>
          <p:nvPr/>
        </p:nvSpPr>
        <p:spPr>
          <a:xfrm>
            <a:off x="5130524" y="2872848"/>
            <a:ext cx="3441976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Profissionais (30-45 anos) com XP temem a obsolescência frente à IA.</a:t>
            </a:r>
            <a:endParaRPr lang="en-US" sz="942" dirty="0"/>
          </a:p>
        </p:txBody>
      </p:sp>
      <p:sp>
        <p:nvSpPr>
          <p:cNvPr id="13" name="Text 9"/>
          <p:cNvSpPr/>
          <p:nvPr/>
        </p:nvSpPr>
        <p:spPr>
          <a:xfrm>
            <a:off x="5130524" y="3461482"/>
            <a:ext cx="3441976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 de Mercado</a:t>
            </a:r>
            <a:endParaRPr lang="en-US" sz="2016" dirty="0"/>
          </a:p>
        </p:txBody>
      </p:sp>
      <p:sp>
        <p:nvSpPr>
          <p:cNvPr id="14" name="Text 10"/>
          <p:cNvSpPr/>
          <p:nvPr/>
        </p:nvSpPr>
        <p:spPr>
          <a:xfrm>
            <a:off x="5130524" y="3865104"/>
            <a:ext cx="3441976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Plataformas atuais oferecem conteúdo técnico, mas não orientação estratégica.</a:t>
            </a:r>
            <a:endParaRPr lang="en-US" sz="94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2" kern="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02. A DOR PRINCIPAL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776883"/>
            <a:ext cx="857250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Ausência de Gestão Ativa</a:t>
            </a:r>
            <a:endParaRPr lang="en-US" sz="2436" dirty="0"/>
          </a:p>
        </p:txBody>
      </p:sp>
      <p:sp>
        <p:nvSpPr>
          <p:cNvPr id="5" name="Shape 2"/>
          <p:cNvSpPr/>
          <p:nvPr/>
        </p:nvSpPr>
        <p:spPr>
          <a:xfrm>
            <a:off x="571500" y="1476970"/>
            <a:ext cx="2476509" cy="2794992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476970"/>
            <a:ext cx="2476509" cy="28575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762720"/>
            <a:ext cx="2019309" cy="3429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00100" y="2319933"/>
            <a:ext cx="2019309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Falta de Direção</a:t>
            </a:r>
            <a:endParaRPr lang="en-US" sz="1397" dirty="0"/>
          </a:p>
        </p:txBody>
      </p:sp>
      <p:sp>
        <p:nvSpPr>
          <p:cNvPr id="9" name="Text 5"/>
          <p:cNvSpPr/>
          <p:nvPr/>
        </p:nvSpPr>
        <p:spPr>
          <a:xfrm>
            <a:off x="800100" y="2705695"/>
            <a:ext cx="2019309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usuário não sofre apenas por "falta de emprego", mas por insegurança e sensação de estagnação na carreira.</a:t>
            </a:r>
            <a:endParaRPr lang="en-US" sz="942" dirty="0"/>
          </a:p>
        </p:txBody>
      </p:sp>
      <p:sp>
        <p:nvSpPr>
          <p:cNvPr id="10" name="Shape 6"/>
          <p:cNvSpPr/>
          <p:nvPr/>
        </p:nvSpPr>
        <p:spPr>
          <a:xfrm>
            <a:off x="3333759" y="1476970"/>
            <a:ext cx="2476509" cy="2794992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>
            <a:off x="3333759" y="1476970"/>
            <a:ext cx="2476509" cy="28575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2359" y="1762720"/>
            <a:ext cx="2019309" cy="3429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62359" y="2319933"/>
            <a:ext cx="2019309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Gaps Comportamentais</a:t>
            </a:r>
            <a:endParaRPr lang="en-US" sz="1397" dirty="0"/>
          </a:p>
        </p:txBody>
      </p:sp>
      <p:sp>
        <p:nvSpPr>
          <p:cNvPr id="14" name="Text 9"/>
          <p:cNvSpPr/>
          <p:nvPr/>
        </p:nvSpPr>
        <p:spPr>
          <a:xfrm>
            <a:off x="3562359" y="2948583"/>
            <a:ext cx="2019309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Cursos técnicos não resolvem a necessidade de Soft Skills e liderança exigidas pela nova era da IA.</a:t>
            </a:r>
            <a:endParaRPr lang="en-US" sz="942" dirty="0"/>
          </a:p>
        </p:txBody>
      </p:sp>
      <p:sp>
        <p:nvSpPr>
          <p:cNvPr id="15" name="Shape 10"/>
          <p:cNvSpPr/>
          <p:nvPr/>
        </p:nvSpPr>
        <p:spPr>
          <a:xfrm>
            <a:off x="6096019" y="1476970"/>
            <a:ext cx="2476509" cy="2794992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16" name="Shape 11"/>
          <p:cNvSpPr/>
          <p:nvPr/>
        </p:nvSpPr>
        <p:spPr>
          <a:xfrm>
            <a:off x="6096019" y="1476970"/>
            <a:ext cx="2476509" cy="28575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19" y="1762720"/>
            <a:ext cx="2019309" cy="3429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324619" y="2319933"/>
            <a:ext cx="2019309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Escasso</a:t>
            </a:r>
            <a:endParaRPr lang="en-US" sz="1397" dirty="0"/>
          </a:p>
        </p:txBody>
      </p:sp>
      <p:sp>
        <p:nvSpPr>
          <p:cNvPr id="19" name="Text 13"/>
          <p:cNvSpPr/>
          <p:nvPr/>
        </p:nvSpPr>
        <p:spPr>
          <a:xfrm>
            <a:off x="6324619" y="2705695"/>
            <a:ext cx="2019309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Falta de mentoria contínua e personalizada que acompanhe a evolução semanal do profissional.</a:t>
            </a:r>
            <a:endParaRPr lang="en-US" sz="942" dirty="0"/>
          </a:p>
        </p:txBody>
      </p:sp>
      <p:sp>
        <p:nvSpPr>
          <p:cNvPr id="20" name="Shape 14"/>
          <p:cNvSpPr/>
          <p:nvPr/>
        </p:nvSpPr>
        <p:spPr>
          <a:xfrm>
            <a:off x="0" y="4700588"/>
            <a:ext cx="9144000" cy="44291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1" name="Shape 15"/>
          <p:cNvSpPr/>
          <p:nvPr/>
        </p:nvSpPr>
        <p:spPr>
          <a:xfrm>
            <a:off x="0" y="4700588"/>
            <a:ext cx="9144000" cy="7144"/>
          </a:xfrm>
          <a:prstGeom prst="rect">
            <a:avLst/>
          </a:prstGeom>
          <a:solidFill>
            <a:srgbClr val="EAEDF1"/>
          </a:solidFill>
          <a:ln/>
        </p:spPr>
      </p:sp>
      <p:sp>
        <p:nvSpPr>
          <p:cNvPr id="22" name="Text 16"/>
          <p:cNvSpPr/>
          <p:nvPr/>
        </p:nvSpPr>
        <p:spPr>
          <a:xfrm>
            <a:off x="0" y="4700588"/>
            <a:ext cx="9144000" cy="442913"/>
          </a:xfrm>
          <a:prstGeom prst="rect">
            <a:avLst/>
          </a:prstGeom>
          <a:noFill/>
          <a:ln/>
        </p:spPr>
        <p:txBody>
          <a:bodyPr wrap="square" lIns="680339" tIns="272161" rIns="680339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i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"Tenho 10 anos de experiência, mas a IA vai me substituir se eu não virar gestor ou especialista?"</a:t>
            </a:r>
            <a:endParaRPr lang="en-US" sz="1269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8442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2" kern="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03. PÚBLICO-ALVO (PERSONA)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776883"/>
            <a:ext cx="857250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Profissional Tech Sênior</a:t>
            </a:r>
            <a:endParaRPr lang="en-US" sz="2436" dirty="0"/>
          </a:p>
        </p:txBody>
      </p:sp>
      <p:sp>
        <p:nvSpPr>
          <p:cNvPr id="5" name="Shape 2"/>
          <p:cNvSpPr/>
          <p:nvPr/>
        </p:nvSpPr>
        <p:spPr>
          <a:xfrm>
            <a:off x="571500" y="1476970"/>
            <a:ext cx="3441976" cy="2857500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476970"/>
            <a:ext cx="3441976" cy="28575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Shape 4"/>
          <p:cNvSpPr/>
          <p:nvPr/>
        </p:nvSpPr>
        <p:spPr>
          <a:xfrm>
            <a:off x="1863849" y="1762720"/>
            <a:ext cx="857250" cy="85725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951" y="1977033"/>
            <a:ext cx="375047" cy="4286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21854" y="2791420"/>
            <a:ext cx="13412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 Senior</a:t>
            </a:r>
            <a:endParaRPr lang="en-US" sz="1602" dirty="0"/>
          </a:p>
        </p:txBody>
      </p:sp>
      <p:sp>
        <p:nvSpPr>
          <p:cNvPr id="10" name="Text 6"/>
          <p:cNvSpPr/>
          <p:nvPr/>
        </p:nvSpPr>
        <p:spPr>
          <a:xfrm>
            <a:off x="1851347" y="3125391"/>
            <a:ext cx="88225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a 45 anos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442101" y="1476970"/>
            <a:ext cx="342900" cy="342900"/>
          </a:xfrm>
          <a:prstGeom prst="rect">
            <a:avLst/>
          </a:prstGeom>
          <a:solidFill>
            <a:srgbClr val="38BDF8">
              <a:alpha val="10000"/>
            </a:srgbClr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7826" y="1562695"/>
            <a:ext cx="171450" cy="1714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956451" y="1476970"/>
            <a:ext cx="361604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Alto Poder Aquisitivo</a:t>
            </a:r>
            <a:endParaRPr lang="en-US" sz="1193" dirty="0"/>
          </a:p>
        </p:txBody>
      </p:sp>
      <p:sp>
        <p:nvSpPr>
          <p:cNvPr id="14" name="Text 9"/>
          <p:cNvSpPr/>
          <p:nvPr/>
        </p:nvSpPr>
        <p:spPr>
          <a:xfrm>
            <a:off x="4956451" y="1741289"/>
            <a:ext cx="361604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Profissionais estabelecidos que valorizam o tempo e estão dispostos a investir em soluções premium.</a:t>
            </a:r>
            <a:endParaRPr lang="en-US" sz="942" dirty="0"/>
          </a:p>
        </p:txBody>
      </p:sp>
      <p:sp>
        <p:nvSpPr>
          <p:cNvPr id="15" name="Shape 10"/>
          <p:cNvSpPr/>
          <p:nvPr/>
        </p:nvSpPr>
        <p:spPr>
          <a:xfrm>
            <a:off x="4442101" y="2438474"/>
            <a:ext cx="342900" cy="342900"/>
          </a:xfrm>
          <a:prstGeom prst="rect">
            <a:avLst/>
          </a:prstGeom>
          <a:solidFill>
            <a:srgbClr val="38BDF8">
              <a:alpha val="10000"/>
            </a:srgbClr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9257" y="2524199"/>
            <a:ext cx="128588" cy="1714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956451" y="2438474"/>
            <a:ext cx="361604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Urgência em Atualização</a:t>
            </a:r>
            <a:endParaRPr lang="en-US" sz="1193" dirty="0"/>
          </a:p>
        </p:txBody>
      </p:sp>
      <p:sp>
        <p:nvSpPr>
          <p:cNvPr id="18" name="Text 12"/>
          <p:cNvSpPr/>
          <p:nvPr/>
        </p:nvSpPr>
        <p:spPr>
          <a:xfrm>
            <a:off x="4956451" y="2702793"/>
            <a:ext cx="361604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Busca constante por relevância estratégica para não ser superado pela automação da IA.</a:t>
            </a:r>
            <a:endParaRPr lang="en-US" sz="942" dirty="0"/>
          </a:p>
        </p:txBody>
      </p:sp>
      <p:sp>
        <p:nvSpPr>
          <p:cNvPr id="19" name="Shape 13"/>
          <p:cNvSpPr/>
          <p:nvPr/>
        </p:nvSpPr>
        <p:spPr>
          <a:xfrm>
            <a:off x="4442101" y="3399979"/>
            <a:ext cx="342900" cy="342900"/>
          </a:xfrm>
          <a:prstGeom prst="rect">
            <a:avLst/>
          </a:prstGeom>
          <a:solidFill>
            <a:srgbClr val="38BDF8">
              <a:alpha val="10000"/>
            </a:srgbClr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6395" y="3485704"/>
            <a:ext cx="214313" cy="17145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956451" y="3399979"/>
            <a:ext cx="361604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Foco em Mentoria</a:t>
            </a:r>
            <a:endParaRPr lang="en-US" sz="1193" dirty="0"/>
          </a:p>
        </p:txBody>
      </p:sp>
      <p:sp>
        <p:nvSpPr>
          <p:cNvPr id="22" name="Text 15"/>
          <p:cNvSpPr/>
          <p:nvPr/>
        </p:nvSpPr>
        <p:spPr>
          <a:xfrm>
            <a:off x="4956451" y="3664297"/>
            <a:ext cx="361604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 busca aulas básicas ou cursos genéricos; precisa de orientação direta e contextualizada.</a:t>
            </a:r>
            <a:endParaRPr lang="en-US" sz="942" dirty="0"/>
          </a:p>
        </p:txBody>
      </p:sp>
      <p:sp>
        <p:nvSpPr>
          <p:cNvPr id="23" name="Text 16"/>
          <p:cNvSpPr/>
          <p:nvPr/>
        </p:nvSpPr>
        <p:spPr>
          <a:xfrm>
            <a:off x="4442101" y="4597226"/>
            <a:ext cx="413039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MINDSET CENTRAL</a:t>
            </a:r>
            <a:endParaRPr lang="en-US" sz="683" dirty="0"/>
          </a:p>
        </p:txBody>
      </p:sp>
      <p:sp>
        <p:nvSpPr>
          <p:cNvPr id="24" name="Text 17"/>
          <p:cNvSpPr/>
          <p:nvPr/>
        </p:nvSpPr>
        <p:spPr>
          <a:xfrm>
            <a:off x="4442101" y="4804395"/>
            <a:ext cx="4130399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69" i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"Tem o cartão de crédito na mão, mas falta tempo."</a:t>
            </a:r>
            <a:endParaRPr lang="en-US" sz="1269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2" kern="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04. EVIDÊNCIAS DE VALIDAÇÃO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776883"/>
            <a:ext cx="857250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 de Custo x Benefício</a:t>
            </a:r>
            <a:endParaRPr lang="en-US" sz="2436" dirty="0"/>
          </a:p>
        </p:txBody>
      </p:sp>
      <p:sp>
        <p:nvSpPr>
          <p:cNvPr id="5" name="Shape 2"/>
          <p:cNvSpPr/>
          <p:nvPr/>
        </p:nvSpPr>
        <p:spPr>
          <a:xfrm>
            <a:off x="571500" y="1476970"/>
            <a:ext cx="2552691" cy="2971800"/>
          </a:xfrm>
          <a:prstGeom prst="rect">
            <a:avLst/>
          </a:prstGeom>
          <a:solidFill>
            <a:srgbClr val="1E293B">
              <a:alpha val="3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476970"/>
            <a:ext cx="2552691" cy="2857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4"/>
          <p:cNvSpPr/>
          <p:nvPr/>
        </p:nvSpPr>
        <p:spPr>
          <a:xfrm>
            <a:off x="742950" y="1705570"/>
            <a:ext cx="220979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Headhunters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742950" y="1969889"/>
            <a:ext cx="220979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R$ 5.000+</a:t>
            </a:r>
            <a:endParaRPr lang="en-US" sz="885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2382441"/>
            <a:ext cx="114300" cy="1143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42975" y="2353866"/>
            <a:ext cx="2009766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 extremamente elevado para o profissional.</a:t>
            </a:r>
            <a:endParaRPr lang="en-US" sz="834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2873908"/>
            <a:ext cx="114300" cy="1143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42975" y="2845333"/>
            <a:ext cx="2009766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Atuação episódica e pontual (recolocação).</a:t>
            </a:r>
            <a:endParaRPr lang="en-US" sz="834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3365376"/>
            <a:ext cx="114300" cy="1143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42975" y="3336801"/>
            <a:ext cx="2009766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Foco no interesse da empresa contratante.</a:t>
            </a:r>
            <a:endParaRPr lang="en-US" sz="834" dirty="0"/>
          </a:p>
        </p:txBody>
      </p:sp>
      <p:sp>
        <p:nvSpPr>
          <p:cNvPr id="15" name="Shape 9"/>
          <p:cNvSpPr/>
          <p:nvPr/>
        </p:nvSpPr>
        <p:spPr>
          <a:xfrm>
            <a:off x="3295641" y="1476970"/>
            <a:ext cx="2552691" cy="2971800"/>
          </a:xfrm>
          <a:prstGeom prst="rect">
            <a:avLst/>
          </a:prstGeom>
          <a:solidFill>
            <a:srgbClr val="1E293B">
              <a:alpha val="30000"/>
            </a:srgbClr>
          </a:solidFill>
          <a:ln/>
        </p:spPr>
      </p:sp>
      <p:sp>
        <p:nvSpPr>
          <p:cNvPr id="16" name="Shape 10"/>
          <p:cNvSpPr/>
          <p:nvPr/>
        </p:nvSpPr>
        <p:spPr>
          <a:xfrm>
            <a:off x="3295641" y="1476970"/>
            <a:ext cx="2552691" cy="2857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1"/>
          <p:cNvSpPr/>
          <p:nvPr/>
        </p:nvSpPr>
        <p:spPr>
          <a:xfrm>
            <a:off x="3467091" y="1705570"/>
            <a:ext cx="220979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Cursos (LMS)</a:t>
            </a:r>
            <a:endParaRPr lang="en-US" sz="1193" dirty="0"/>
          </a:p>
        </p:txBody>
      </p:sp>
      <p:sp>
        <p:nvSpPr>
          <p:cNvPr id="18" name="Text 12"/>
          <p:cNvSpPr/>
          <p:nvPr/>
        </p:nvSpPr>
        <p:spPr>
          <a:xfrm>
            <a:off x="3467091" y="1969889"/>
            <a:ext cx="220979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R$ 50 - 500 /mês</a:t>
            </a:r>
            <a:endParaRPr lang="en-US" sz="885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7091" y="2382441"/>
            <a:ext cx="114300" cy="1143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667116" y="2353866"/>
            <a:ext cx="187344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Conteúdo genérico e padronizado.</a:t>
            </a:r>
            <a:endParaRPr lang="en-US" sz="834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7091" y="2713899"/>
            <a:ext cx="114300" cy="1143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3667116" y="2685324"/>
            <a:ext cx="2009766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Ausência de feedback personalizado.</a:t>
            </a:r>
            <a:endParaRPr lang="en-US" sz="834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67091" y="3205367"/>
            <a:ext cx="114300" cy="11430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3667116" y="3176792"/>
            <a:ext cx="2009766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Baixa taxa de conclusão e aplicação prática.</a:t>
            </a:r>
            <a:endParaRPr lang="en-US" sz="834" dirty="0"/>
          </a:p>
        </p:txBody>
      </p:sp>
      <p:sp>
        <p:nvSpPr>
          <p:cNvPr id="25" name="Shape 16"/>
          <p:cNvSpPr/>
          <p:nvPr/>
        </p:nvSpPr>
        <p:spPr>
          <a:xfrm>
            <a:off x="6019781" y="1476970"/>
            <a:ext cx="2552691" cy="2971800"/>
          </a:xfrm>
          <a:prstGeom prst="rect">
            <a:avLst/>
          </a:prstGeom>
          <a:solidFill>
            <a:srgbClr val="38BDF8">
              <a:alpha val="5000"/>
            </a:srgbClr>
          </a:solidFill>
          <a:ln/>
        </p:spPr>
      </p:sp>
      <p:sp>
        <p:nvSpPr>
          <p:cNvPr id="26" name="Shape 17"/>
          <p:cNvSpPr/>
          <p:nvPr/>
        </p:nvSpPr>
        <p:spPr>
          <a:xfrm>
            <a:off x="6019781" y="1476970"/>
            <a:ext cx="2552691" cy="28575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7" name="Text 18"/>
          <p:cNvSpPr/>
          <p:nvPr/>
        </p:nvSpPr>
        <p:spPr>
          <a:xfrm>
            <a:off x="6191231" y="1705570"/>
            <a:ext cx="220979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CareerFlow AI</a:t>
            </a:r>
            <a:endParaRPr lang="en-US" sz="1193" dirty="0"/>
          </a:p>
        </p:txBody>
      </p:sp>
      <p:sp>
        <p:nvSpPr>
          <p:cNvPr id="28" name="Text 19"/>
          <p:cNvSpPr/>
          <p:nvPr/>
        </p:nvSpPr>
        <p:spPr>
          <a:xfrm>
            <a:off x="6191231" y="1969889"/>
            <a:ext cx="220979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Acessível &amp; Contínuo</a:t>
            </a:r>
            <a:endParaRPr lang="en-US" sz="885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31" y="2382441"/>
            <a:ext cx="114300" cy="11430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6391256" y="2353866"/>
            <a:ext cx="1755577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Mentoria estratégica 24/7 via IA.</a:t>
            </a:r>
            <a:endParaRPr lang="en-US" sz="834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1231" y="2713899"/>
            <a:ext cx="114300" cy="11430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6391256" y="2685324"/>
            <a:ext cx="2009766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contínuo baseado em dados reais.</a:t>
            </a:r>
            <a:endParaRPr lang="en-US" sz="834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91231" y="3205367"/>
            <a:ext cx="114300" cy="114300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6391256" y="3176792"/>
            <a:ext cx="2009766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Foco total na jornada e evolução do aluno.</a:t>
            </a:r>
            <a:endParaRPr lang="en-US" sz="834" dirty="0"/>
          </a:p>
        </p:txBody>
      </p:sp>
      <p:sp>
        <p:nvSpPr>
          <p:cNvPr id="35" name="Shape 23"/>
          <p:cNvSpPr/>
          <p:nvPr/>
        </p:nvSpPr>
        <p:spPr>
          <a:xfrm>
            <a:off x="0" y="4734520"/>
            <a:ext cx="9144000" cy="4089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6" name="Shape 24"/>
          <p:cNvSpPr/>
          <p:nvPr/>
        </p:nvSpPr>
        <p:spPr>
          <a:xfrm>
            <a:off x="0" y="4734520"/>
            <a:ext cx="9144000" cy="7144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7" name="Text 25"/>
          <p:cNvSpPr/>
          <p:nvPr/>
        </p:nvSpPr>
        <p:spPr>
          <a:xfrm>
            <a:off x="0" y="4734520"/>
            <a:ext cx="9144000" cy="408980"/>
          </a:xfrm>
          <a:prstGeom prst="rect">
            <a:avLst/>
          </a:prstGeom>
          <a:noFill/>
          <a:ln/>
        </p:spPr>
        <p:txBody>
          <a:bodyPr wrap="square" lIns="680339" tIns="272161" rIns="680339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Análise de concorrência indica um </a:t>
            </a:r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abismo no mercado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as soluções atuais são ou muito caras ou muito genéricas.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2" kern="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05. FOCO DO PROJETO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776883"/>
            <a:ext cx="857250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Democratização da "Gestão de Carreira"</a:t>
            </a:r>
            <a:endParaRPr lang="en-US" sz="2436" dirty="0"/>
          </a:p>
        </p:txBody>
      </p:sp>
      <p:sp>
        <p:nvSpPr>
          <p:cNvPr id="5" name="Shape 2"/>
          <p:cNvSpPr/>
          <p:nvPr/>
        </p:nvSpPr>
        <p:spPr>
          <a:xfrm>
            <a:off x="571500" y="1476970"/>
            <a:ext cx="3441976" cy="1757363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476970"/>
            <a:ext cx="3441976" cy="28575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4"/>
          <p:cNvSpPr/>
          <p:nvPr/>
        </p:nvSpPr>
        <p:spPr>
          <a:xfrm>
            <a:off x="800100" y="1705570"/>
            <a:ext cx="2984776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Proposta de Valor</a:t>
            </a:r>
            <a:endParaRPr lang="en-US" sz="1397" dirty="0"/>
          </a:p>
        </p:txBody>
      </p:sp>
      <p:sp>
        <p:nvSpPr>
          <p:cNvPr id="8" name="Text 5"/>
          <p:cNvSpPr/>
          <p:nvPr/>
        </p:nvSpPr>
        <p:spPr>
          <a:xfrm>
            <a:off x="800100" y="2062758"/>
            <a:ext cx="29847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Priorizamos resolver a </a:t>
            </a:r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falta de feedback </a:t>
            </a:r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contínuo e personalizado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Diferente de 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soluções que focam apenas em 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recolocação ou ensino técnico, nós 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focamos na jornada.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71500" y="3434358"/>
            <a:ext cx="3441976" cy="1571625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571500" y="3434358"/>
            <a:ext cx="3441976" cy="28575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1" name="Text 8"/>
          <p:cNvSpPr/>
          <p:nvPr/>
        </p:nvSpPr>
        <p:spPr>
          <a:xfrm>
            <a:off x="800100" y="3662958"/>
            <a:ext cx="2984776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Público Alvo</a:t>
            </a:r>
            <a:endParaRPr lang="en-US" sz="1397" dirty="0"/>
          </a:p>
        </p:txBody>
      </p:sp>
      <p:sp>
        <p:nvSpPr>
          <p:cNvPr id="12" name="Text 9"/>
          <p:cNvSpPr/>
          <p:nvPr/>
        </p:nvSpPr>
        <p:spPr>
          <a:xfrm>
            <a:off x="800100" y="4020145"/>
            <a:ext cx="2984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Focamos na evolução do profissional </a:t>
            </a:r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empregado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que quer crescer ou mudar de 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área com segurança e estratégia.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442101" y="1476970"/>
            <a:ext cx="4130399" cy="932259"/>
          </a:xfrm>
          <a:prstGeom prst="rect">
            <a:avLst/>
          </a:prstGeom>
          <a:solidFill>
            <a:srgbClr val="1E293B">
              <a:alpha val="30000"/>
            </a:srgbClr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3551" y="1698427"/>
            <a:ext cx="228600" cy="2286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985026" y="1648420"/>
            <a:ext cx="341602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Contínuo</a:t>
            </a:r>
            <a:endParaRPr lang="en-US" sz="1090" dirty="0"/>
          </a:p>
        </p:txBody>
      </p:sp>
      <p:sp>
        <p:nvSpPr>
          <p:cNvPr id="16" name="Text 12"/>
          <p:cNvSpPr/>
          <p:nvPr/>
        </p:nvSpPr>
        <p:spPr>
          <a:xfrm>
            <a:off x="4985026" y="1894880"/>
            <a:ext cx="341602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Acompanhamento constante para evitar a estagnação e garantir que o profissional esteja sempre alinhado com o mercado.</a:t>
            </a:r>
            <a:endParaRPr lang="en-US" sz="834" dirty="0"/>
          </a:p>
        </p:txBody>
      </p:sp>
      <p:sp>
        <p:nvSpPr>
          <p:cNvPr id="17" name="Shape 13"/>
          <p:cNvSpPr/>
          <p:nvPr/>
        </p:nvSpPr>
        <p:spPr>
          <a:xfrm>
            <a:off x="4442101" y="2580680"/>
            <a:ext cx="4130399" cy="857250"/>
          </a:xfrm>
          <a:prstGeom prst="rect">
            <a:avLst/>
          </a:prstGeom>
          <a:solidFill>
            <a:srgbClr val="1E293B">
              <a:alpha val="30000"/>
            </a:srgbClr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3551" y="2802136"/>
            <a:ext cx="257175" cy="228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13601" y="2752130"/>
            <a:ext cx="338744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Jornada de Evolução</a:t>
            </a:r>
            <a:endParaRPr lang="en-US" sz="1090" dirty="0"/>
          </a:p>
        </p:txBody>
      </p:sp>
      <p:sp>
        <p:nvSpPr>
          <p:cNvPr id="20" name="Text 15"/>
          <p:cNvSpPr/>
          <p:nvPr/>
        </p:nvSpPr>
        <p:spPr>
          <a:xfrm>
            <a:off x="5013601" y="2998589"/>
            <a:ext cx="338744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Foco no crescimento de longo prazo, não apenas em eventos pontuais como a troca de emprego.</a:t>
            </a:r>
            <a:endParaRPr lang="en-US" sz="834" dirty="0"/>
          </a:p>
        </p:txBody>
      </p:sp>
      <p:sp>
        <p:nvSpPr>
          <p:cNvPr id="21" name="Shape 16"/>
          <p:cNvSpPr/>
          <p:nvPr/>
        </p:nvSpPr>
        <p:spPr>
          <a:xfrm>
            <a:off x="4442101" y="3609380"/>
            <a:ext cx="4130399" cy="857250"/>
          </a:xfrm>
          <a:prstGeom prst="rect">
            <a:avLst/>
          </a:prstGeom>
          <a:solidFill>
            <a:srgbClr val="1E293B">
              <a:alpha val="30000"/>
            </a:srgbClr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3551" y="3830836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985026" y="3780830"/>
            <a:ext cx="341602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Segurança Estratégica</a:t>
            </a:r>
            <a:endParaRPr lang="en-US" sz="1090" dirty="0"/>
          </a:p>
        </p:txBody>
      </p:sp>
      <p:sp>
        <p:nvSpPr>
          <p:cNvPr id="24" name="Text 18"/>
          <p:cNvSpPr/>
          <p:nvPr/>
        </p:nvSpPr>
        <p:spPr>
          <a:xfrm>
            <a:off x="4985026" y="4027289"/>
            <a:ext cx="34160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Orientação baseada em dados para transições de carreira seguras e fundamentadas.</a:t>
            </a:r>
            <a:endParaRPr lang="en-US" sz="83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2" kern="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07. SOLUÇÃO TÉCNICA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776883"/>
            <a:ext cx="857250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Orquestração e Inteligência</a:t>
            </a:r>
            <a:endParaRPr lang="en-US" sz="2436" dirty="0"/>
          </a:p>
        </p:txBody>
      </p:sp>
      <p:sp>
        <p:nvSpPr>
          <p:cNvPr id="5" name="Shape 2"/>
          <p:cNvSpPr/>
          <p:nvPr/>
        </p:nvSpPr>
        <p:spPr>
          <a:xfrm>
            <a:off x="571500" y="1476970"/>
            <a:ext cx="2476509" cy="3666530"/>
          </a:xfrm>
          <a:prstGeom prst="rect">
            <a:avLst/>
          </a:prstGeom>
          <a:solidFill>
            <a:srgbClr val="1E293B">
              <a:alpha val="3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476970"/>
            <a:ext cx="2476509" cy="28575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762720"/>
            <a:ext cx="2019309" cy="3429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00100" y="2277070"/>
            <a:ext cx="201930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Orquestração de Agentes</a:t>
            </a: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800100" y="2859956"/>
            <a:ext cx="2019309" cy="10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Uso de N8N para fluxos complexos e arquitetura Mixture of Experts (MoE) para garantir a melhor resposta técnica e estratégica.</a:t>
            </a:r>
            <a:endParaRPr lang="en-US" sz="942" dirty="0"/>
          </a:p>
        </p:txBody>
      </p:sp>
      <p:sp>
        <p:nvSpPr>
          <p:cNvPr id="10" name="Shape 6"/>
          <p:cNvSpPr/>
          <p:nvPr/>
        </p:nvSpPr>
        <p:spPr>
          <a:xfrm>
            <a:off x="800100" y="4679156"/>
            <a:ext cx="2019309" cy="178594"/>
          </a:xfrm>
          <a:prstGeom prst="rect">
            <a:avLst/>
          </a:prstGeom>
          <a:solidFill>
            <a:srgbClr val="38BDF8">
              <a:alpha val="10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800100" y="4679156"/>
            <a:ext cx="2019309" cy="17859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N8N + MoE</a:t>
            </a:r>
            <a:endParaRPr lang="en-US" sz="683" dirty="0"/>
          </a:p>
        </p:txBody>
      </p:sp>
      <p:sp>
        <p:nvSpPr>
          <p:cNvPr id="12" name="Shape 8"/>
          <p:cNvSpPr/>
          <p:nvPr/>
        </p:nvSpPr>
        <p:spPr>
          <a:xfrm>
            <a:off x="3333759" y="1476970"/>
            <a:ext cx="2476509" cy="3666530"/>
          </a:xfrm>
          <a:prstGeom prst="rect">
            <a:avLst/>
          </a:prstGeom>
          <a:solidFill>
            <a:srgbClr val="1E293B">
              <a:alpha val="30000"/>
            </a:srgbClr>
          </a:solidFill>
          <a:ln/>
        </p:spPr>
      </p:sp>
      <p:sp>
        <p:nvSpPr>
          <p:cNvPr id="13" name="Shape 9"/>
          <p:cNvSpPr/>
          <p:nvPr/>
        </p:nvSpPr>
        <p:spPr>
          <a:xfrm>
            <a:off x="3333759" y="1476970"/>
            <a:ext cx="2476509" cy="28575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2359" y="1762720"/>
            <a:ext cx="2019309" cy="3429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62359" y="2277070"/>
            <a:ext cx="2019309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Diagnóstico Profundo</a:t>
            </a:r>
            <a:endParaRPr lang="en-US" sz="1193" dirty="0"/>
          </a:p>
        </p:txBody>
      </p:sp>
      <p:sp>
        <p:nvSpPr>
          <p:cNvPr id="16" name="Text 11"/>
          <p:cNvSpPr/>
          <p:nvPr/>
        </p:nvSpPr>
        <p:spPr>
          <a:xfrm>
            <a:off x="3562359" y="2654238"/>
            <a:ext cx="2019309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Integração via Deep Research e dados do LinkedIn para gerar um Raio-X instantâneo de Hard e Soft Skills do profissional.</a:t>
            </a:r>
            <a:endParaRPr lang="en-US" sz="942" dirty="0"/>
          </a:p>
        </p:txBody>
      </p:sp>
      <p:sp>
        <p:nvSpPr>
          <p:cNvPr id="17" name="Shape 12"/>
          <p:cNvSpPr/>
          <p:nvPr/>
        </p:nvSpPr>
        <p:spPr>
          <a:xfrm>
            <a:off x="3562359" y="4679156"/>
            <a:ext cx="2019309" cy="178594"/>
          </a:xfrm>
          <a:prstGeom prst="rect">
            <a:avLst/>
          </a:prstGeom>
          <a:solidFill>
            <a:srgbClr val="38BDF8">
              <a:alpha val="10000"/>
            </a:srgbClr>
          </a:solidFill>
          <a:ln/>
        </p:spPr>
      </p:sp>
      <p:sp>
        <p:nvSpPr>
          <p:cNvPr id="18" name="Text 13"/>
          <p:cNvSpPr/>
          <p:nvPr/>
        </p:nvSpPr>
        <p:spPr>
          <a:xfrm>
            <a:off x="3562359" y="4679156"/>
            <a:ext cx="2019309" cy="17859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Research</a:t>
            </a:r>
            <a:endParaRPr lang="en-US" sz="683" dirty="0"/>
          </a:p>
        </p:txBody>
      </p:sp>
      <p:sp>
        <p:nvSpPr>
          <p:cNvPr id="19" name="Shape 14"/>
          <p:cNvSpPr/>
          <p:nvPr/>
        </p:nvSpPr>
        <p:spPr>
          <a:xfrm>
            <a:off x="6096019" y="1476970"/>
            <a:ext cx="2476509" cy="3666530"/>
          </a:xfrm>
          <a:prstGeom prst="rect">
            <a:avLst/>
          </a:prstGeom>
          <a:solidFill>
            <a:srgbClr val="1E293B">
              <a:alpha val="30000"/>
            </a:srgbClr>
          </a:solidFill>
          <a:ln/>
        </p:spPr>
      </p:sp>
      <p:sp>
        <p:nvSpPr>
          <p:cNvPr id="20" name="Shape 15"/>
          <p:cNvSpPr/>
          <p:nvPr/>
        </p:nvSpPr>
        <p:spPr>
          <a:xfrm>
            <a:off x="6096019" y="1476970"/>
            <a:ext cx="2476509" cy="28575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19" y="1762720"/>
            <a:ext cx="2019309" cy="342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24619" y="2277070"/>
            <a:ext cx="201930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Memória de Longo Prazo</a:t>
            </a:r>
            <a:endParaRPr lang="en-US" sz="1193" dirty="0"/>
          </a:p>
        </p:txBody>
      </p:sp>
      <p:sp>
        <p:nvSpPr>
          <p:cNvPr id="23" name="Text 17"/>
          <p:cNvSpPr/>
          <p:nvPr/>
        </p:nvSpPr>
        <p:spPr>
          <a:xfrm>
            <a:off x="6324619" y="2859956"/>
            <a:ext cx="2019309" cy="10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Diário conversacional que mantém o contexto das dores, evoluções e metas semanais, funcionando como um mentor real.</a:t>
            </a:r>
            <a:endParaRPr lang="en-US" sz="942" dirty="0"/>
          </a:p>
        </p:txBody>
      </p:sp>
      <p:sp>
        <p:nvSpPr>
          <p:cNvPr id="24" name="Shape 18"/>
          <p:cNvSpPr/>
          <p:nvPr/>
        </p:nvSpPr>
        <p:spPr>
          <a:xfrm>
            <a:off x="6324619" y="4679156"/>
            <a:ext cx="2019309" cy="178594"/>
          </a:xfrm>
          <a:prstGeom prst="rect">
            <a:avLst/>
          </a:prstGeom>
          <a:solidFill>
            <a:srgbClr val="38BDF8">
              <a:alpha val="10000"/>
            </a:srgbClr>
          </a:solidFill>
          <a:ln/>
        </p:spPr>
      </p:sp>
      <p:sp>
        <p:nvSpPr>
          <p:cNvPr id="25" name="Text 19"/>
          <p:cNvSpPr/>
          <p:nvPr/>
        </p:nvSpPr>
        <p:spPr>
          <a:xfrm>
            <a:off x="6324619" y="4679156"/>
            <a:ext cx="2019309" cy="178594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Vector DB / Memory</a:t>
            </a:r>
            <a:endParaRPr lang="en-US" sz="68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2" kern="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08. DIFERENCIAIS E ESCALABILIDADE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776883"/>
            <a:ext cx="857250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Mentoria de Alto Nível Acessível</a:t>
            </a:r>
            <a:endParaRPr lang="en-US" sz="2436" dirty="0"/>
          </a:p>
        </p:txBody>
      </p:sp>
      <p:sp>
        <p:nvSpPr>
          <p:cNvPr id="5" name="Shape 2"/>
          <p:cNvSpPr/>
          <p:nvPr/>
        </p:nvSpPr>
        <p:spPr>
          <a:xfrm>
            <a:off x="571500" y="1476970"/>
            <a:ext cx="2476509" cy="2773561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476970"/>
            <a:ext cx="2476509" cy="28575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762720"/>
            <a:ext cx="2019309" cy="3429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00100" y="2319933"/>
            <a:ext cx="2019309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Personalização Extrema</a:t>
            </a:r>
            <a:endParaRPr lang="en-US" sz="1397" dirty="0"/>
          </a:p>
        </p:txBody>
      </p:sp>
      <p:sp>
        <p:nvSpPr>
          <p:cNvPr id="9" name="Text 5"/>
          <p:cNvSpPr/>
          <p:nvPr/>
        </p:nvSpPr>
        <p:spPr>
          <a:xfrm>
            <a:off x="800100" y="2948583"/>
            <a:ext cx="2019309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Muito mais direcionado que qualquer curso EAD padrão, focando nas dores reais do profissional.</a:t>
            </a:r>
            <a:endParaRPr lang="en-US" sz="942" dirty="0"/>
          </a:p>
        </p:txBody>
      </p:sp>
      <p:sp>
        <p:nvSpPr>
          <p:cNvPr id="10" name="Shape 6"/>
          <p:cNvSpPr/>
          <p:nvPr/>
        </p:nvSpPr>
        <p:spPr>
          <a:xfrm>
            <a:off x="3333759" y="1476970"/>
            <a:ext cx="2476509" cy="2773561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>
            <a:off x="3333759" y="1476970"/>
            <a:ext cx="2476509" cy="28575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2359" y="1762720"/>
            <a:ext cx="2019309" cy="3429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62359" y="2319933"/>
            <a:ext cx="2019309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Custo-Benefício</a:t>
            </a:r>
            <a:endParaRPr lang="en-US" sz="1397" dirty="0"/>
          </a:p>
        </p:txBody>
      </p:sp>
      <p:sp>
        <p:nvSpPr>
          <p:cNvPr id="14" name="Text 9"/>
          <p:cNvSpPr/>
          <p:nvPr/>
        </p:nvSpPr>
        <p:spPr>
          <a:xfrm>
            <a:off x="3562359" y="2705695"/>
            <a:ext cx="2019309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Democratização do acesso a mentorias que antes eram restritas a executivos de alto escalão.</a:t>
            </a:r>
            <a:endParaRPr lang="en-US" sz="942" dirty="0"/>
          </a:p>
        </p:txBody>
      </p:sp>
      <p:sp>
        <p:nvSpPr>
          <p:cNvPr id="15" name="Shape 10"/>
          <p:cNvSpPr/>
          <p:nvPr/>
        </p:nvSpPr>
        <p:spPr>
          <a:xfrm>
            <a:off x="6096019" y="1476970"/>
            <a:ext cx="2476509" cy="2773561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16" name="Shape 11"/>
          <p:cNvSpPr/>
          <p:nvPr/>
        </p:nvSpPr>
        <p:spPr>
          <a:xfrm>
            <a:off x="6096019" y="1476970"/>
            <a:ext cx="2476509" cy="28575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19" y="1762720"/>
            <a:ext cx="2019309" cy="3429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324619" y="2319933"/>
            <a:ext cx="2019309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Disponibilidade 24/7</a:t>
            </a:r>
            <a:endParaRPr lang="en-US" sz="1397" dirty="0"/>
          </a:p>
        </p:txBody>
      </p:sp>
      <p:sp>
        <p:nvSpPr>
          <p:cNvPr id="19" name="Text 13"/>
          <p:cNvSpPr/>
          <p:nvPr/>
        </p:nvSpPr>
        <p:spPr>
          <a:xfrm>
            <a:off x="6324619" y="2705695"/>
            <a:ext cx="2019309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Orientação estratégica constante sem os custos e limitações de agenda de consultores humanos.</a:t>
            </a:r>
            <a:endParaRPr lang="en-US" sz="942" dirty="0"/>
          </a:p>
        </p:txBody>
      </p:sp>
      <p:sp>
        <p:nvSpPr>
          <p:cNvPr id="20" name="Shape 14"/>
          <p:cNvSpPr/>
          <p:nvPr/>
        </p:nvSpPr>
        <p:spPr>
          <a:xfrm>
            <a:off x="0" y="4679156"/>
            <a:ext cx="9144000" cy="46434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1" name="Shape 15"/>
          <p:cNvSpPr/>
          <p:nvPr/>
        </p:nvSpPr>
        <p:spPr>
          <a:xfrm>
            <a:off x="0" y="4679156"/>
            <a:ext cx="9144000" cy="7144"/>
          </a:xfrm>
          <a:prstGeom prst="rect">
            <a:avLst/>
          </a:prstGeom>
          <a:solidFill>
            <a:srgbClr val="EAEDF1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914900"/>
            <a:ext cx="228600" cy="2286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71550" y="4934545"/>
            <a:ext cx="662940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Potencial de escala global através do uso de IA para democratizar a gestão de carreira.</a:t>
            </a:r>
            <a:endParaRPr lang="en-US" sz="109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2" kern="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09. PRÓXIMOS PASSOS E ENTREGAS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776883"/>
            <a:ext cx="857250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Cronograma e Artefatos</a:t>
            </a:r>
            <a:endParaRPr lang="en-US" sz="2436" dirty="0"/>
          </a:p>
        </p:txBody>
      </p:sp>
      <p:sp>
        <p:nvSpPr>
          <p:cNvPr id="5" name="Shape 2"/>
          <p:cNvSpPr/>
          <p:nvPr/>
        </p:nvSpPr>
        <p:spPr>
          <a:xfrm>
            <a:off x="571500" y="1476970"/>
            <a:ext cx="3441976" cy="1428750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476970"/>
            <a:ext cx="3441976" cy="28575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4"/>
          <p:cNvSpPr/>
          <p:nvPr/>
        </p:nvSpPr>
        <p:spPr>
          <a:xfrm>
            <a:off x="857250" y="1762720"/>
            <a:ext cx="287047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PRAZO DE ENTREGA FINAL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857250" y="1969889"/>
            <a:ext cx="2870476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13/03/2026</a:t>
            </a:r>
            <a:endParaRPr lang="en-US" sz="2436" dirty="0"/>
          </a:p>
        </p:txBody>
      </p:sp>
      <p:sp>
        <p:nvSpPr>
          <p:cNvPr id="9" name="Text 6"/>
          <p:cNvSpPr/>
          <p:nvPr/>
        </p:nvSpPr>
        <p:spPr>
          <a:xfrm>
            <a:off x="742950" y="4541639"/>
            <a:ext cx="245387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Fase Atual: Validação e Refinamento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442101" y="1476970"/>
            <a:ext cx="4130399" cy="1052922"/>
          </a:xfrm>
          <a:prstGeom prst="rect">
            <a:avLst/>
          </a:prstGeom>
          <a:solidFill>
            <a:srgbClr val="1E293B">
              <a:alpha val="3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4613551" y="1648420"/>
            <a:ext cx="400050" cy="400050"/>
          </a:xfrm>
          <a:prstGeom prst="rect">
            <a:avLst/>
          </a:prstGeom>
          <a:solidFill>
            <a:srgbClr val="38BDF8">
              <a:alpha val="10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3563" y="1748433"/>
            <a:ext cx="200025" cy="2000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85051" y="1648420"/>
            <a:ext cx="321599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MVP Funcional</a:t>
            </a:r>
            <a:endParaRPr lang="en-US" sz="1193" dirty="0"/>
          </a:p>
        </p:txBody>
      </p:sp>
      <p:sp>
        <p:nvSpPr>
          <p:cNvPr id="14" name="Text 10"/>
          <p:cNvSpPr/>
          <p:nvPr/>
        </p:nvSpPr>
        <p:spPr>
          <a:xfrm>
            <a:off x="5185051" y="1912739"/>
            <a:ext cx="3215999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realizado no Google Cloud Run. Versão estável para testes de usabilidade e validação técnica.</a:t>
            </a:r>
            <a:endParaRPr lang="en-US" sz="942" dirty="0"/>
          </a:p>
        </p:txBody>
      </p:sp>
      <p:sp>
        <p:nvSpPr>
          <p:cNvPr id="15" name="Shape 11"/>
          <p:cNvSpPr/>
          <p:nvPr/>
        </p:nvSpPr>
        <p:spPr>
          <a:xfrm>
            <a:off x="4442101" y="2758492"/>
            <a:ext cx="4130399" cy="1052922"/>
          </a:xfrm>
          <a:prstGeom prst="rect">
            <a:avLst/>
          </a:prstGeom>
          <a:solidFill>
            <a:srgbClr val="1E293B">
              <a:alpha val="30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>
            <a:off x="4613551" y="2929942"/>
            <a:ext cx="400050" cy="400050"/>
          </a:xfrm>
          <a:prstGeom prst="rect">
            <a:avLst/>
          </a:prstGeom>
          <a:solidFill>
            <a:srgbClr val="38BDF8">
              <a:alpha val="10000"/>
            </a:srgbClr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563" y="3029955"/>
            <a:ext cx="200025" cy="2000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85051" y="2929942"/>
            <a:ext cx="321599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Protótipo UX/UI</a:t>
            </a:r>
            <a:endParaRPr lang="en-US" sz="1193" dirty="0"/>
          </a:p>
        </p:txBody>
      </p:sp>
      <p:sp>
        <p:nvSpPr>
          <p:cNvPr id="19" name="Text 14"/>
          <p:cNvSpPr/>
          <p:nvPr/>
        </p:nvSpPr>
        <p:spPr>
          <a:xfrm>
            <a:off x="5185051" y="3194261"/>
            <a:ext cx="3215999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Mockups de alta fidelidade desenvolvidos via V0.dev, focados na experiência do mentor conversacional.</a:t>
            </a:r>
            <a:endParaRPr lang="en-US" sz="942" dirty="0"/>
          </a:p>
        </p:txBody>
      </p:sp>
      <p:sp>
        <p:nvSpPr>
          <p:cNvPr id="20" name="Shape 15"/>
          <p:cNvSpPr/>
          <p:nvPr/>
        </p:nvSpPr>
        <p:spPr>
          <a:xfrm>
            <a:off x="4442101" y="4040014"/>
            <a:ext cx="4130399" cy="1000125"/>
          </a:xfrm>
          <a:prstGeom prst="rect">
            <a:avLst/>
          </a:prstGeom>
          <a:solidFill>
            <a:srgbClr val="1E293B">
              <a:alpha val="30000"/>
            </a:srgbClr>
          </a:solidFill>
          <a:ln/>
        </p:spPr>
      </p:sp>
      <p:sp>
        <p:nvSpPr>
          <p:cNvPr id="21" name="Shape 16"/>
          <p:cNvSpPr/>
          <p:nvPr/>
        </p:nvSpPr>
        <p:spPr>
          <a:xfrm>
            <a:off x="4613551" y="4211464"/>
            <a:ext cx="400050" cy="400050"/>
          </a:xfrm>
          <a:prstGeom prst="rect">
            <a:avLst/>
          </a:prstGeom>
          <a:solidFill>
            <a:srgbClr val="38BDF8">
              <a:alpha val="10000"/>
            </a:srgbClr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8567" y="4311476"/>
            <a:ext cx="150019" cy="20002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185051" y="4211464"/>
            <a:ext cx="321599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Documentação</a:t>
            </a:r>
            <a:endParaRPr lang="en-US" sz="1193" dirty="0"/>
          </a:p>
        </p:txBody>
      </p:sp>
      <p:sp>
        <p:nvSpPr>
          <p:cNvPr id="24" name="Text 18"/>
          <p:cNvSpPr/>
          <p:nvPr/>
        </p:nvSpPr>
        <p:spPr>
          <a:xfrm>
            <a:off x="5185051" y="4475783"/>
            <a:ext cx="321599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Relatórios oficiais de projeto, comprovação de problema real e validação de mercado.</a:t>
            </a:r>
            <a:endParaRPr lang="en-US" sz="942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99257" y="347365"/>
            <a:ext cx="674548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spc="3" kern="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CONCLUSÃO</a:t>
            </a:r>
            <a:endParaRPr lang="en-US" sz="1193" dirty="0"/>
          </a:p>
        </p:txBody>
      </p:sp>
      <p:sp>
        <p:nvSpPr>
          <p:cNvPr id="4" name="Text 1"/>
          <p:cNvSpPr/>
          <p:nvPr/>
        </p:nvSpPr>
        <p:spPr>
          <a:xfrm>
            <a:off x="1199257" y="668834"/>
            <a:ext cx="6745486" cy="483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Saiba Mais e Visite Nossos Canais</a:t>
            </a:r>
            <a:endParaRPr lang="en-US" sz="2862" dirty="0"/>
          </a:p>
        </p:txBody>
      </p:sp>
      <p:sp>
        <p:nvSpPr>
          <p:cNvPr id="5" name="Shape 2"/>
          <p:cNvSpPr/>
          <p:nvPr/>
        </p:nvSpPr>
        <p:spPr>
          <a:xfrm>
            <a:off x="1714500" y="1581448"/>
            <a:ext cx="5715000" cy="1000125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1714500" y="1581448"/>
            <a:ext cx="5715000" cy="28575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2049363"/>
            <a:ext cx="285750" cy="285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514600" y="1977033"/>
            <a:ext cx="3998714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TRABALHO COMPLETO</a:t>
            </a:r>
            <a:endParaRPr lang="en-US" sz="987" dirty="0"/>
          </a:p>
        </p:txBody>
      </p:sp>
      <p:sp>
        <p:nvSpPr>
          <p:cNvPr id="9" name="Text 5"/>
          <p:cNvSpPr/>
          <p:nvPr/>
        </p:nvSpPr>
        <p:spPr>
          <a:xfrm>
            <a:off x="2514600" y="2207419"/>
            <a:ext cx="3998714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https://luizihara.github.io/fiap.tcc/index-2.html</a:t>
            </a:r>
            <a:endParaRPr lang="en-US" sz="1193" dirty="0"/>
          </a:p>
        </p:txBody>
      </p:sp>
      <p:sp>
        <p:nvSpPr>
          <p:cNvPr id="10" name="Shape 6"/>
          <p:cNvSpPr/>
          <p:nvPr/>
        </p:nvSpPr>
        <p:spPr>
          <a:xfrm>
            <a:off x="1714500" y="2810173"/>
            <a:ext cx="5715000" cy="1000125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>
            <a:off x="1714500" y="2810173"/>
            <a:ext cx="5715000" cy="28575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250" y="3278088"/>
            <a:ext cx="285750" cy="2857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514600" y="3205758"/>
            <a:ext cx="3818334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MAIS INFORMAÇÕES</a:t>
            </a:r>
            <a:endParaRPr lang="en-US" sz="987" dirty="0"/>
          </a:p>
        </p:txBody>
      </p:sp>
      <p:sp>
        <p:nvSpPr>
          <p:cNvPr id="14" name="Text 9"/>
          <p:cNvSpPr/>
          <p:nvPr/>
        </p:nvSpPr>
        <p:spPr>
          <a:xfrm>
            <a:off x="2514600" y="3436144"/>
            <a:ext cx="3818334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https://luizihara.github.io/fiap.tcc/index.html</a:t>
            </a:r>
            <a:endParaRPr lang="en-US" sz="1193" dirty="0"/>
          </a:p>
        </p:txBody>
      </p:sp>
      <p:sp>
        <p:nvSpPr>
          <p:cNvPr id="15" name="Text 10"/>
          <p:cNvSpPr/>
          <p:nvPr/>
        </p:nvSpPr>
        <p:spPr>
          <a:xfrm>
            <a:off x="3722787" y="4381798"/>
            <a:ext cx="1698427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Obrigado!</a:t>
            </a:r>
            <a:endParaRPr lang="en-US" sz="243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2026-03-13T01:43:59Z</dcterms:created>
  <dcterms:modified xsi:type="dcterms:W3CDTF">2026-03-13T01:43:59Z</dcterms:modified>
</cp:coreProperties>
</file>